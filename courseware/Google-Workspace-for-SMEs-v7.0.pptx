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528" r:id="rId280"/>
    <p:sldId id="268" r:id="rId19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Enquiries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New</c:v>
                </c:pt>
                <c:pt idx="1">
                  <c:v>Qualified</c:v>
                </c:pt>
                <c:pt idx="2">
                  <c:v>Won</c:v>
                </c:pt>
                <c:pt idx="3">
                  <c:v>Lost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Sheet1!$A$2:$A$3</c:f>
              <c:strCache>
                <c:ptCount val="2"/>
                <c:pt idx="0">
                  <c:v>All pipeline</c:v>
                </c:pt>
                <c:pt idx="1">
                  <c:v>Won revenue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2820</c:v>
                </c:pt>
                <c:pt idx="1">
                  <c:v>960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0.0"/>
          <c:min val="0.0"/>
        </c:scaling>
        <c:delete val="0"/>
        <c:axPos val="b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500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Scenario score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Google Sites</c:v>
                </c:pt>
                <c:pt idx="1">
                  <c:v>WordPress</c:v>
                </c:pt>
                <c:pt idx="2">
                  <c:v>SharePoint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3.65</c:v>
                </c:pt>
                <c:pt idx="1">
                  <c:v>3.9</c:v>
                </c:pt>
                <c:pt idx="2">
                  <c:v>3.45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Scenario score (0–5)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View events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DOC01</c:v>
                </c:pt>
                <c:pt idx="1">
                  <c:v>DOC02</c:v>
                </c:pt>
                <c:pt idx="2">
                  <c:v>DOC03</c:v>
                </c:pt>
                <c:pt idx="3">
                  <c:v>DOC04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Editors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DOC01</c:v>
                </c:pt>
                <c:pt idx="1">
                  <c:v>DOC02</c:v>
                </c:pt>
                <c:pt idx="2">
                  <c:v>DOC03</c:v>
                </c:pt>
                <c:pt idx="3">
                  <c:v>DOC04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Landing</c:v>
                </c:pt>
                <c:pt idx="1">
                  <c:v>Product</c:v>
                </c:pt>
                <c:pt idx="2">
                  <c:v>Start</c:v>
                </c:pt>
                <c:pt idx="3">
                  <c:v>Submit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1000</c:v>
                </c:pt>
                <c:pt idx="1">
                  <c:v>600</c:v>
                </c:pt>
                <c:pt idx="2">
                  <c:v>120</c:v>
                </c:pt>
                <c:pt idx="3">
                  <c:v>72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0.0"/>
          <c:min val="0.0"/>
        </c:scaling>
        <c:delete val="0"/>
        <c:axPos val="b"/>
        <c:majorGridlines/>
        <c:numFmt formatCode="0" sourceLinked="0"/>
        <c:majorTickMark val="out"/>
        <c:minorTickMark val="none"/>
        <c:tickLblPos val="nextTo"/>
        <c:crossAx val="-2068027336"/>
        <c:crosses val="autoZero"/>
        <c:majorUnit val="200.0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 events</c:v>
                </c:pt>
              </c:strCache>
            </c:strRef>
          </c:tx>
          <c:spPr>
            <a:ln w="31750"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Days1–7</c:v>
                </c:pt>
                <c:pt idx="1">
                  <c:v>Days8–14</c:v>
                </c:pt>
                <c:pt idx="2">
                  <c:v>Days15–21</c:v>
                </c:pt>
                <c:pt idx="3">
                  <c:v>Days22–28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27</c:v>
                </c:pt>
                <c:pt idx="1">
                  <c:v>19</c:v>
                </c:pt>
                <c:pt idx="2">
                  <c:v>11</c:v>
                </c:pt>
                <c:pt idx="3">
                  <c:v>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crossAx val="2118791784"/>
        <c:crosses val="autoZero"/>
        <c:majorUnit val="5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https://lms-tms.tertiaryinfotech.com/</a:t>
            </a:r>
          </a:p>
          <a:p>
            <a:r>
              <a:t>Verified: 13 September 2026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https://support.google.com/a/users/answer/12380484?hl=en</a:t>
            </a:r>
          </a:p>
          <a:p>
            <a:r>
              <a:t>Verified: 13 September 2026</a:t>
            </a:r>
          </a:p>
          <a:p>
            <a:r>
              <a:t>Activity 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https://support.google.com/drive/answer/14254362</a:t>
            </a:r>
          </a:p>
          <a:p>
            <a:r>
              <a:t>Verified: 13 September 2026</a:t>
            </a:r>
          </a:p>
          <a:p>
            <a:r>
              <a:t>Activity 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https://developers.google.com/workspace/drive/api/guides/manage-sharing</a:t>
            </a:r>
          </a:p>
          <a:p>
            <a:r>
              <a:t>Verified: 13 September 2026</a:t>
            </a:r>
          </a:p>
          <a:p>
            <a:r>
              <a:t>Activity 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https://support.google.com/docs/answer/190843?hl=en</a:t>
            </a:r>
          </a:p>
          <a:p>
            <a:r>
              <a:t>Verified: 13 September 2026</a:t>
            </a:r>
          </a:p>
          <a:p>
            <a:r>
              <a:t>Activity 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https://support.google.com/docs/answer/6033474?hl=en</a:t>
            </a:r>
          </a:p>
          <a:p>
            <a:r>
              <a:t>Verified: 13 September 2026</a:t>
            </a:r>
          </a:p>
          <a:p>
            <a:r>
              <a:t>Activity 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11: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https://support.google.com/mail/answer/6579</a:t>
            </a:r>
          </a:p>
          <a:p>
            <a:r>
              <a:t>Verified: 13 September 2026</a:t>
            </a:r>
          </a:p>
          <a:p>
            <a:r>
              <a:t>Activity 14: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https://support.google.com/mail/answer/138350?hl=en</a:t>
            </a:r>
          </a:p>
          <a:p>
            <a:r>
              <a:t>Verified: 13 September 2026</a:t>
            </a:r>
          </a:p>
          <a:p>
            <a:r>
              <a:t>Activity 15: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https://support.google.com/calendar/answer/11608416?hl=en</a:t>
            </a:r>
          </a:p>
          <a:p>
            <a:r>
              <a:t>Verified: 13 September 2026</a:t>
            </a:r>
          </a:p>
          <a:p>
            <a:r>
              <a:t>Activity 16: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https://support.google.com/meet/answer/9308681?hl=en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https://support.google.com/chat/answer/9260076?hl=en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19: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https://support.google.com/sites/answer/90569?hl=en</a:t>
            </a:r>
          </a:p>
          <a:p>
            <a:r>
              <a:t>Verified: 13 September 2026</a:t>
            </a:r>
          </a:p>
          <a:p>
            <a:r>
              <a:t>Activity 20: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https://support.google.com/a/answer/6089179?hl=en</a:t>
            </a:r>
          </a:p>
          <a:p>
            <a:r>
              <a:t>Verified: 13 September 2026</a:t>
            </a:r>
          </a:p>
          <a:p>
            <a:r>
              <a:t>Activity 24: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https://developers.google.com/apps-script/guides/triggers</a:t>
            </a:r>
          </a:p>
          <a:p>
            <a:r>
              <a:t>Verified: 13 September 2026</a:t>
            </a:r>
          </a:p>
          <a:p>
            <a:r>
              <a:t>Activity 25: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https://support.google.com/a/answer/60216?hl=en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https://knowledge.workspace.google.com/admin/users/suspend-a-user-temporarily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https://knowledge.workspace.google.com/admin/getting-started/set-up-google-workspace-for-your-organization</a:t>
            </a:r>
          </a:p>
          <a:p>
            <a:r>
              <a:t>Verified: 13 September 2026</a:t>
            </a:r>
          </a:p>
          <a:p>
            <a:r>
              <a:t>Activity 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https://workspace.google.com/training/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https://support.google.com/chat/answer/14310347?hl=en</a:t>
            </a:r>
          </a:p>
          <a:p>
            <a:r>
              <a:t>Verified: 13 September 2026</a:t>
            </a:r>
          </a:p>
          <a:p>
            <a:r>
              <a:t>Activity 18: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https://support.google.com/meet/answer/11295507?hl=en</a:t>
            </a:r>
          </a:p>
          <a:p>
            <a:r>
              <a:t>Verified: 13 September 2026</a:t>
            </a:r>
          </a:p>
          <a:p>
            <a:r>
              <a:t>Activity 17: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https://support.google.com/docs/answer/63175?hl=en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https://support.google.com/docs/answer/3256529?hl=en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https://support.google.com/docs/answer/3094008?hl=en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https://support.google.com/docs/answer/7014063?hl=en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https://support.google.com/docs/answer/3093318?hl=en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https://support.google.com/docs/answer/9245556?hl=en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https://developers.google.com/workspace/sheets/api/guides/filters-overview</a:t>
            </a:r>
          </a:p>
          <a:p>
            <a:r>
              <a:t>Verified: 13 September 2026</a:t>
            </a:r>
          </a:p>
          <a:p>
            <a:r>
              <a:t>Activity 10: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https://support.google.com/a/users/?hl=en</a:t>
            </a:r>
          </a:p>
          <a:p>
            <a:r>
              <a:t>Verified: 13 September 2026</a:t>
            </a:r>
          </a:p>
          <a:p>
            <a:r>
              <a:t>Activity 9: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https://support.google.com/docs/answer/2839588?hl=en</a:t>
            </a:r>
          </a:p>
          <a:p>
            <a:r>
              <a:t>Verified: 13 September 2026</a:t>
            </a:r>
          </a:p>
          <a:p>
            <a:r>
              <a:t>Activity 13: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https://wordpress.org/documentation/article/roles-and-capabilities/</a:t>
            </a:r>
          </a:p>
          <a:p>
            <a:r>
              <a:t>Verified: 13 September 2026</a:t>
            </a:r>
          </a:p>
          <a:p>
            <a:r>
              <a:t>Activity 21: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https://support.google.com/analytics/answer/12195621?hl=en</a:t>
            </a:r>
          </a:p>
          <a:p>
            <a:r>
              <a:t>Verified: 13 September 2026</a:t>
            </a:r>
          </a:p>
          <a:p>
            <a:r>
              <a:t>Activity 23: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Workspace for SMEs - Boosting Efficiency and Collaboration</a:t>
            </a:r>
          </a:p>
          <a:p>
            <a:r>
              <a:t>Primary source: https://support.google.com/a/answer/4579696?hl=en</a:t>
            </a:r>
          </a:p>
          <a:p>
            <a:r>
              <a:t>Verified: 13 September 2026</a:t>
            </a:r>
          </a:p>
          <a:p>
            <a:r>
              <a:t>Activity 22: full procedure in Learner Guide and activity folder. Synthetic examples are training artifacts, not product screenshots or live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1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42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43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44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245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246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24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248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249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0040"/>
            <a:ext cx="1005840" cy="1005840"/>
          </a:xfrm>
          <a:prstGeom prst="rect">
            <a:avLst/>
          </a:prstGeom>
        </p:spPr>
      </p:pic>
      <p:pic>
        <p:nvPicPr>
          <p:cNvPr id="4" name="Picture 3" descr="sme-collabo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45920"/>
            <a:ext cx="6400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6916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530352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Google Workspace for SMEs</a:t>
            </a:r>
          </a:p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Boosting Efficiency and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TGS-2023018988 · Version 7.0 · 13 September 2026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Tertiary Infotech Academy Pte Ltd · UEN201200696W · Trainer: Dr Alfred Ang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AI-generated SME scenario photograph; instructional diagrams and charts are editable.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Mandatory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TRAQOM · SSG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Complete the class digital attendance process shown by your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Class sessions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Record attendance for each required training session.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Record assessment attendance before commencing WA and PP.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Training portal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the current class link and QR supplied through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Course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Trainer, Tertiary Infotech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Google Workspace content management and collaboration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CLASS CONTEXT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current class profile and account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Learner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Current role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Share one content asset you maintain and its current audience.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Organisation challenge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Name one access, version or customer-navigation fault.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Tools access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Confirm training Google Account and browser.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Practice boundary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supplied synthetic records and named training identities.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mock data; no real customer records or live credentials.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Respect named access and explain review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Change control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Practise in new training folders; no production tenant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Capture exact outputs and verify with intended viewer identity.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Observable 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Implement content management policies and post and update content using Google Drive.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and controlled Drive 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web properties and assets, create and curate content, and maintain awareness of market offerings.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Maintained site and offering comparison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Report performance metrics, recommend appropriate add-ons, and generate ideas to improve customer and visitor experience.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Monthly metrics and add-on 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CONTENT MANAGEMENT · ICT-SNM-3026-1.1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Learning 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Knowledge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Drive governance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K1, K2, K5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A1, 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Content and web 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K3, K4, K8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A3, 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Metrics and improvement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K6, K7, K9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A5, A6, A7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2DAYS ·16H INCLUDING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Training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09:00–09:30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Administration and baseline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34640"/>
            <a:ext cx="276496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834640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09:30–12:00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834640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834640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Drive governance activities 1–5 + demos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834640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834640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10712"/>
            <a:ext cx="2764962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10712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12:00–12:30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10712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10712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Docs review activity 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10712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10712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86784"/>
            <a:ext cx="276496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86784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12:30–13:00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86784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86784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86784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86784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62856"/>
            <a:ext cx="2764962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62856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13:00–15:00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62856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62856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Docs/Sheets activities 7–10 + demos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62856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62856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138928"/>
            <a:ext cx="2764962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138928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15:00–15:30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138928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138928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Break and independent reset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138928"/>
            <a:ext cx="3934755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138928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715000"/>
            <a:ext cx="2764962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715000"/>
            <a:ext cx="250893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15:30–18:00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715000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715000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Slides/Forms/Gmail activities 11–15 + 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715000"/>
            <a:ext cx="3934755" cy="5760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715000"/>
            <a:ext cx="3678723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13.5H TRAINING ·2.5H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Day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Training minutes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09:00–10:30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Calendar/Meet/Chat activities 16–18 + demos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62631"/>
            <a:ext cx="2764962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62631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10:30–10:45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62631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62631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Break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62631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62631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66694"/>
            <a:ext cx="2764962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66694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10:45–12:15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66694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66694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Sites activities 19–20 and comparison 21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66694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66694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70757"/>
            <a:ext cx="2764962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70757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12:15–12:45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70757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70757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70757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70757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274820"/>
            <a:ext cx="2764962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274820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12:45–15:15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274820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274820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Metrics/add-ons/script activities 22–25 + revision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274820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274820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778883"/>
            <a:ext cx="2764962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778883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15:15–15:30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778883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778883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Assessment attendance and readiness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778883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778883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282946"/>
            <a:ext cx="2764962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282946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15:30–16:30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282946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282946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Written Assessment 9 questions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282946"/>
            <a:ext cx="3934755" cy="504063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282946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 assessment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787009"/>
            <a:ext cx="2764962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787009"/>
            <a:ext cx="2508930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16:30–18:00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5787009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5787009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Practical Performance 3 tasks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6957" y="5787009"/>
            <a:ext cx="3934755" cy="5040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4973" y="5787009"/>
            <a:ext cx="3678723" cy="504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90 assessment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Individual open-book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Complete your own responses using the provided document.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Written knowledge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9 short-answer questions map one-to-one to K1–K9;60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Practical performance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3 tasks map to A1–A7;90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Evidence and submission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Provide policy, maintenance/comparison and metrics/improvement artifacts; upload on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60 minutes,9 questions; knowledge evidence K1–K9.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PP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90 minutes,3 tasks; ability evidence A1–A7.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Completion requirements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Follow current ATO assessment and attendance requirements.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Funding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Eligibility and current terms are determined by the official course listing and enrolment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AUTHENTIC PORTAL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ms-courseware-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713232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1920240"/>
            <a:ext cx="3017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Portal courseware panel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view captured 13 September 2026.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current Learner Guide, slides PDF and Activities. Assessment answers are submitted through the class LMS.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lms-tms.tertiaryinfotech.com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class digital attendance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assessment session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 min then 90 min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completed answers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assessment summary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Complete required attendance, assessment, upload and signed summary.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Before You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Required core tools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Browser, Google training account, Drive, Docs, Sheets, Slides, Forms and Sites.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Account-dependent tools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Calendar/Meet/Chat plus shared drives and Admin reports where enabled.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Fallbacks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documented design/evidence route when an admin-only or edition feature is unavailable.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Activity package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Each folder includes guide, mock records, source links and acceptance checklist.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SYNTHETIC CASE · HHS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SME Content Governance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tent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4922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828800"/>
            <a:ext cx="3749039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Inspectable scenario contract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Finance invoices: Restricted Finance group.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Marketing drafts: named reviewers.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Approved product release: intended customer audience.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Form responses: Restricted staff store.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AI-generated conceptual illustration; labels describe our training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TOPIC1 · LO1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Governance and Drive content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K1 K2 K3 K5 A1 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Google Account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Sales / Finance membership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classification and…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Drive item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access and ownership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policy assigns accountability; Drive sharing is the enforcement action. A document describing Restricted does not change any permission.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Internal / Confidential / Public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field, not automatic enforcement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Accountable for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General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 for internal records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 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2026-10-01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Monthly permission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email alias is not a separate account. Groups grant access to their current members; membership therefore needs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 CM-001   owner: Finance lead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Internal: named staff or approved group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Confidential: Finance group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Public: approved release copy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Agency access: named agency reviewer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Review: monthly and staff exit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Retention: approved business schedule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Exception: owner approval + expiry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Policy versus setting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policy assigns accountability; Drive sharing is the enforcement action. A document describing Restricted does not change any permission.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Identity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email alias is not a separate account. Groups grant access to their current members; membership therefore needs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Administrator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an authorised administrator changes domain or service controls. Learners draft a change request rather than alter a live tenant.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asset contain confidential fields?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Finance-only container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apply Internal or approved Public policy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an authorised administrator changes domain or service controls. Learners draft a change request rather than alter a live tenant.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Policy says restricted; link opens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General access is broader than the written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actual sharing and test another 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Group includes former staff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Membership outlasted employment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group membership; review direct grants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administrator rights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Tenant settings inaccessible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 administrator request and evidence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Copy only approved non-sensitive content to the public asset area. Keep invoices in an independently restricted container.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Policy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Approves exceptions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 reviewer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Operations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Checks groups and direct sharing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Publisher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Approves public release copy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Administrator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Tenant admin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 organisation-level sharing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POL-001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approved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owner and monthly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ACL-001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Internal folder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Restricted; staff group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TEST-001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 account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Invoice access denied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EXC-001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 product draft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Commenter; approval recorded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Completed policy covers classification, ownership, posting, review and exceptions; access evidence names the tested account and role.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Policy versus setting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policy assigns accountability; Drive sharing is the enforcement action. A document describing Restricted does not change any permission.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email alias is not a separate account. Groups grant access to their current members; membership therefore needs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Administrator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Only an authorised administrator changes domain or service controls. Learners draft a change request rather than alter a live tenant.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Public release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Copy only approved non-sensitive content to the public asset area. Keep invoices in an independently restricted container.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ACTIVITY01 · K1 K5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Content policy and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activities/activity-01-content-policy-and-identity-boundaries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Harbour Home Supplies is a fictional Singapore SME with Sales, Operations and Finance teams. Its migration contains supplier invoices, customer enquiries and public product sheets. An external agency needs only approved marketing assets.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Completed policy covers classification, ownership, posting, review and exceptions; access evidence names the tested account and role.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Drive, Docs; administrator demonstration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Completed policy covers classification, ownership, posting, review and exceptions; access evidence names the tested account and role.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My Drive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individual ownership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Shared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organisation-owned content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Team membership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role from membership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Release area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copy + audience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Organisation ownership is the reason to use shared drives for team records; it is separate from the ability to edit.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My Drive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Individual account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Lifecycle includes ownership handover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Shared drive owner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Organisation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Files remain when a member leaves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Shared drive 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Manager / Content Manager / Contributor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least privilege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Folder exception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Limited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Available to authorised managers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Managers manage membership and settings. Contributors add and edit content without the broader Manager powers.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REGISTER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asset_id: CAT-001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working_location: My Drive draft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target: HHS Marketing shared drive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business_owner: Marketing lead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editor_role: Contributor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release_status: Draft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handover_test: departing editor removed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Organisation ownership is the reason to use shared drives for team records; it is separate from the ability to edit.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Role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Managers manage membership and settings. Contributors add and edit content without the broader Manager powers.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Move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Moving an existing file can change effective access. Inspect direct grants and drive restrictions before and after a move.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Must the file persist after the author leaves?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shared drive where available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individual draft may be acceptable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Moving an existing file can change effective access. Inspect direct grants and drive restrictions before and after a move.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Shared drives not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or policy does not offer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fallback; record limitation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Agency sees too much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Broad drive membership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narrow approved sharing or separate release area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Move changes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Restrictions differ between 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effective audience before and after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Shared drive availability depends on account and administrator settings. A Restricted My Drive training folder is the fallback, with a documented handover risk.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Membership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 new members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Editing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Contributor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Create/update assigned assets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Sensitive subset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Limited-access folder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applicable folder explicitly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Fallback handover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My Drive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transfer/review procedure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OWN-001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CAT-001 location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Shared drive or documented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ROLE-001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 identity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Contributor, not 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EXIT-001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Member removed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Organisation source remains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VIEW-001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 identity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approved asset available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Folder structure and ownership register distinguish individual from organisation ownership; least-privilege role and unavailable-feature fallback are recorded.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Persistence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Organisation ownership is the reason to use shared drives for team records; it is separate from the ability to edit.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Role selection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Managers manage membership and settings. Contributors add and edit content without the broader Manager powers.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Move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Moving an existing file can change effective access. Inspect direct grants and drive restrictions before and after a move.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Availability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Shared drive availability depends on account and administrator settings. A Restricted My Drive training folder is the fallback, with a documented handover risk.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ACTIVITY02 · K1 K3 K5 A1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Drive ownership and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activities/activity-02-drive-ownership-and-team-structure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product catalogue must remain with Harbour Home Supplies when its editor leaves. A working draft currently sits in an individual My Drive folder. Decide where the source of record should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structure and ownership register distinguish individual from organisation ownership; least-privilege role and unavailable-feature fallback are recorded.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Drive; shared drive if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structure and ownership register distinguish individual from organisation ownership; least-privilege role and unavailable-feature fallback are recorded.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Direct grant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account role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 grant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membership path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Inherited grant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parent / drive path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General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link / domain audience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Removing one grant does not remove other access paths. A group or general audience can still authorise the account.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People with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or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direct and inherited paths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General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 / audience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May grant access without individual entry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Limited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Folder-level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Cannot manually apply to one 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Manager / owner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Privileged principal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Cannot remove their underlying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Adjust inherited sharing at its origin, or use an appropriate limited-access folder. Do not assume a child removal overrides all parent access.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ACCESS 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invoice.csv -&gt; Finance folder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agency grant: removed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parent Marketing group: agency member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General access: Anyone with link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observed agency outcome: opens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expected Finance-only outcome: denied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finding: two access paths remain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Union of grants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Removing one grant does not remove other access paths. A group or general audience can still authorise the account.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Inheritance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Adjust inherited sharing at its origin, or use an appropriate limited-access folder. Do not assume a child removal overrides all parent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Limited-access exception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Current Drive supports folder-level limited access. Shared drive Managers and My Drive owners retain their privileged access.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an uninvited test identity open the invoice?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identify each remaining grant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record denial and approved-user access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Drive supports folder-level limited access. Shared drive Managers and My Drive owners retain their privileged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Removed user still opens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/ inherited / general grant remains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and correct each authorised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Folder limited; public file opens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has another general/direct grant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both General access and People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Cannot modify inherited grant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Permission originates at parent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Owner/manager changes origin; record blocker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Share dialog is configuration evidence. A separate account opening or being denied the exact file is outcome evidence.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Confidential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 container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public or agency group grant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Group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Membership register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nested or broad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Guest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test identity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expected deny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Finance account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expected allow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ACL-BEFORE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Opens through broader grant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ACL-AFTER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Denied after full correction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FIN-ALLOW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tester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 read expected 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Signs effective-access register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Access register identifies all four grant paths; one approved allow and one uninvited deny outcome are recorded for the exact training asset.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Union of grants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Removing one grant does not remove other access paths. A group or general audience can still authorise the account.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Inheritance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Adjust inherited sharing at its origin, or use an appropriate limited-access folder. Do not assume a child removal overrides all parent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Limited-access exception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Current Drive supports folder-level limited access. Shared drive Managers and My Drive owners retain their privileged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Share dialog is configuration evidence. A separate account opening or being denied the exact file is outcome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ACTIVITY03 · K1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Effective access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activities/activity-03-sharing-and-effective-access-audit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Finance deleted an agency user from one invoice file, but the agency still opens it through a group or public link. Diagnose all access paths rather than judging the direct People list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register identifies all four grant paths; one approved allow and one uninvited deny outcome are recorded for the exact training asset.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Drive, two test identities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register identifies all four grant paths; one approved allow and one uninvited deny outcome are recorded for the exact training asset.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asset ID + owner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comments and approval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release version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audience + URL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Draft and Approved are fields in our register, not a claim that Drive enforces a complete CMS approval workflow.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P-101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Stable business identifier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 / Review / Approved /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register states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source_url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Working Drive item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substitute obsolete copy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published_on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2026-09-13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Release evidence and next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single source URL reduces ambiguity. Downloads and exported PDFs are snapshots, so published copies require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asset_id, title, status, owner, review_due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P-101, Desk lamp, Published, Marketing,2026-10-13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P-102, Storage box, Review, Marketing,2026-09-20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P-103, Wall shelf, Draft, Operations,2026-09-20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P-101 release note: price SGD 49.00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 1: obsolete price SGD 45.00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 2: approved price SGD 49.00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register points to approved source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Business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and Approved are fields in our register, not a claim that Drive enforces a complete CMS approval workflow.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Stable 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single source URL reduces ambiguity. Downloads and exported PDFs are snapshots, so published copies require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Version naming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Named editor versions make approved checkpoints inspectable; changing the filename alone does not prove content approval.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registered release approved and current?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publish the approved copy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keep working draft restricted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editor versions make approved checkpoints inspectable; changing the filename alone does not prove content approval.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Sales shares older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Snapshot does not update with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public reference; verify release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Two current source links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Duplicate records for same asset 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authorised source and archive duplicate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Unapproved content publicly visible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Audience broadened before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Restrict; approve and republish deliberately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obsolete public file needs removal from current navigation and a controlled archive policy; record references before retirement.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Creation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 ID and 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comments and factual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current approved URL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Maintenance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review due and linked copies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P-101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ID, owner, status, due date populated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Price SGD 49 and approval note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copy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intended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 1 reference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longer used in current index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One current P-101 source is registered, price is SGD 49, approval checkpoint and viewer evidence exist, and obsolete reference is retired.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Business states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Draft and Approved are fields in our register, not a claim that Drive enforces a complete CMS approval 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Stable source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single source URL reduces ambiguity. Downloads and exported PDFs are snapshots, so published copies require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Version naming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Named editor versions make approved checkpoints inspectable; changing the filename alone does not prove content approval.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Retirement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obsolete public file needs removal from current navigation and a controlled archive policy; record references before retirement.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ACTIVITY04 · K2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Posting and asset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activities/activity-04-posting-lifecycle-and-asset-metadata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Product sheet P-101 has three competing copies. Sales sent an obsolete price. Create a single source of record with an explicit business publication lifecycle.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current P-101 source is registered, price is SGD 49, approval checkpoint and viewer evidence exist, and obsolete reference is retired.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Drive, Docs, 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current P-101 source is registered, price is SGD 49, approval checkpoint and viewer evidence exist, and obsolete reference is retired.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Search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 / type / owner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Identify 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asset ID and location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Version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editor changes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checkpoint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familiar filename is insufficient. Match asset ID, owner, location and current release record.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Search terms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checklist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 title then verify asset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Type 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irrelevant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Assets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Distinguish draft from release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Version history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checkpoint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Requires appropriate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version restore changes current content; compare the selected checkpoint and keep a review record.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SEARCH EVIDENCE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query: delivery checklist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A: DELIVERY-01 Draft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B: DELIVERY-01 Approved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approved checkpoint: Dispatch v 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missing line: verify customer address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recovery record: restored approved content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validation: address check present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familiar filename is insufficient. Match asset ID, owner, location and current release record.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Recovery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version restore changes current content; compare the selected checkpoint and keep a review record.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Editor versus binary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Native editor version history and uploaded-file versions are different mechanisms. Inspect the appropriate history for the item type.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version match the approved checkpoint?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retain and validate current source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compare history and recover authorised content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Native editor version history and uploaded-file versions are different mechanisms. Inspect the appropriate history for the item type.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Correct file absent from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account, location or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known URL and invited 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Draft mistaken for current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Title reused without asset identifier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Validate register and approved location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Restored content still incomplete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checkpoint selected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explicit acceptance lines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Not found and not authorised can look similar. Verify the invited identity and known source URL before creating a duplicate.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asset ID and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Version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changes before restore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Recovery approval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Authorise checkpoint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Post recovery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required dispatch 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location and identifier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Dispatch v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checkpoint identified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Address check restored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Known URL opens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Correct checklist identity is found and the approved address verification line is restored with an inspectable recovery log.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Identity check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familiar filename is insufficient. Match asset ID, owner, location and current release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Recovery target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version restore changes current content; compare the selected checkpoint and keep a review record.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Editor versus binary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Native editor version history and uploaded-file versions are different mechanisms. Inspect the appropriate history for the item type.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Access failure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 found and not authorised can look similar. Verify the invited identity and known source URL before creating a duplicate.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ACTIVITY05 · K3 K5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Search and version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activities/activity-05-search-recovery-and-version-diagnosis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warehouse manager cannot find the approved delivery checklist. The search result contains a similarly named draft, and an edit removed an important dispatch check.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Correct checklist identity is found and the approved address verification line is restored with an inspectable recovery log.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Drive, 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Correct checklist identity is found and the approved address verification line is restored with an inspectable recovery 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TOPIC2 ·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Content assets and customer web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K2 K3 K4 K5 K7 K8 A2 A3 A4 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headings + source facts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suggestion / comment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Editor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accept or reject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approved version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Heading styles encode hierarchy; simply making text large or bold does not provide the same outline structure.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Heading styles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Heading 1 / Heading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 supports outline and navigation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Suggesting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Proposal does not replace accepted text yet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selection + issue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after 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delivery policy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Auditable release checkpoint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Suggestions are proposals. An authorised editor accepts or rejects them; comments record discussion and can be resolved.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DELIVERY POLICY DP-01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Heading 1: Delivery eligibility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Heading 2: Standard delivery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Charge: SGD 5 for orders below SGD 80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Heading 1: Returns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Reviewer suggestion: 14-day window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Editor decision: accept verified 14 days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Version: Approved DP-01 v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Heading styles encode hierarchy; simply making text large or bold does not provide the same outline 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Review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Suggestions are proposals. An authorised editor accepts or rejects them; comments record discussion and can be resolved.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Source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policy must trace delivery price and return window to a business-approved source, not an invented reviewer assumption.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a reviewer proposing an unverified policy change?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comment and request source evidence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accept approved correction and record decision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policy must trace delivery price and return window to a business-approved source, not an invented reviewer assumption.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Outline missing headings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 formatting used instead of styles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Heading 1/2 to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Reviewer overwrites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Editing mode used for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Suggesting and review 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Comment resolved but text wrong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Discussion closure mistaken for correction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final policy text and 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named approved checkpoint plus an approval record identifies the version intended for distribution.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 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Maintains source document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Commenter or permitted suggestion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Proposes corrections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 + business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Accepts approved changes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Distribution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Checks release checkpoint and audience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STRUCT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Two Heading 1 sections visible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Suggestion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14-day proposal recorded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Accepted 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terms reflected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version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DP-01 v 2 approved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Heading outline works; supported 14-day return correction is accepted, unsupported change rejected, and approved version evidence is saved.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Heading styles encode hierarchy; simply making text large or bold does not provide the same outline 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Review contract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Suggestions are proposals. An authorised editor accepts or rejects them; comments record discussion and can be resolved.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Source validation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policy must trace delivery price and return window to a business-approved source, not an invented reviewer assumption.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Release state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named approved checkpoint plus an approval record identifies the version intended for distribution.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ACTIVITY06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Docs structure and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activities/activity-06-docs-structure-and-collaborative-review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delivery policy is hard to navigate and reviewers overwrite each other. Build a structured document and distinguish proposed edits from accepted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Heading outline works; supported 14-day return correction is accepted, unsupported change rejected, and approved version evidence is saved.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Docs,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Heading outline works; supported 14-day return correction is accepted, unsupported change rejected, and approved version evidence is saved.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structure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Draft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replace placeholders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accuracy + accessibility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viewer-ready snapshot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template constrains structure but cannot prove correctness. Each copy still needs a source and reviewer.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Template fields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product, price, contact,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unreplaced placeholders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Internal fields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unit_cost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Exclude from public copy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 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 delivery terms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Descriptive purpose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Image 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Alternative 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Meaningful description where appropriate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Deleting a visible cost from the public export is only one check. Review comments, links, embedded tables and metadata of the distributed artifact.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BROCHURE RELEASE CHECK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product: Modular storage box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price: SGD 29.00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contact: sales@harbour.example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unit_cost: REMOVE before release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placeholder {{PRODUCT}}: none remaining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delivery_terms: descriptive link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approval: Marketing lead / 2026-09-13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Template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template constrains structure but cannot prove correctness. Each copy still needs a source and reviewer.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Redaction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Deleting a visible cost from the public export is only one check. Review comments, links, embedded tables and metadata of the distributed artifact.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Readable links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Descriptive link text helps a reader predict destination; test the viewer’s permission on the target as well as the link itself.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exported brochure expose unit_cost?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reject release and remove internal fields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complete factual, link and accessibility checks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Descriptive link text helps a reader predict destination; test the viewer’s permission on the target as well as the link itself.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Placeholder remains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Template fields incomplete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Search for double-brace markers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PDF contains old address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Export predates source update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Regenerate from approved current 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 gives permission error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Target ACL differs from brochure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target to intended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PDF is a snapshot. A later source edit requires a newly reviewed export and replacement of the published reference.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Checks price and 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Internal-data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Finance reviewer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costs or confidential details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Meaningful headings and image 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Checks PDF and target URLs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29 matches approved product record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unit_cost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Absent from public export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terms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viewer can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PDF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Release copy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version and readable layout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Brochure has no template placeholders or internal cost, accurate product facts, a tested descriptive link, and a readable approved PDF.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Template scope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template constrains structure but cannot prove correctness. Each copy still needs a source and reviewer.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Redaction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Deleting a visible cost from the public export is only one check. Review comments, links, embedded tables and metadata of the distributed artifact.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Readable links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Descriptive link text helps a reader predict destination; test the viewer’s permission on the target as well as the link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Export divergence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PDF is a snapshot. A later source edit requires a newly reviewed export and replacement of the published reference.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ACTIVITY07 · K2 K4 A2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Docs publication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activities/activity-07-docs-templates-and-publication-readiness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Sales reuses a brochure containing an old address and an internal cost figure. Apply a publication checklist to a controlled template before export.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Brochure has no template placeholders or internal cost, accurate product facts, a tested descriptive link, and a readable approved PDF.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Docs,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Brochure has no template placeholders or internal cost, accurate product facts, a tested descriptive link, and a readable approved PDF.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CSV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UTF-8 and header row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Typed 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dates + amounts + IDs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allowed stage values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 register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unique enquiry record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rows may be repeats rather than new customers. Resolve using the stable enquiry ID before summing revenue.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enquiry_id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E001...E012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unique identifier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amount_sgd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Numeric &gt;=0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Currency formatting is not data cleaning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/ Qualified / Won / Lost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Dropdown rejects invalid input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created_on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 date in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interpreted date and locale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Formatting a text cell as currency does not guarantee numeric values. Check ISNUMBER and the source import.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enquiry_id, created_on, stage, amount_sgd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E001,2026-09-01, New,120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E002,2026-09-02, Qualified,240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E003,2026-09-03, Won,360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E003,2026-09-03, Won,360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E004,2026-09-04, won,180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=COUNTIF(A:A, A2)&gt;1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duplicate E003 must be reviewed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Identifier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Duplicate rows may be repeats rather than new customers. Resolve using the stable enquiry ID before summing revenue.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Type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Formatting a text cell as currency does not guarantee numeric values. Check ISNUMBER and the source import.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allowed-value dropdown standardises new edits; audit existing invalid values rather than assuming validation cleans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every row satisfy ID, stage and amount rules?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include in validated reporting range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quarantine row and correct against source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allowed-value dropdown standardises new edits; audit existing invalid values rather than assuming validation cleans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Revenue unexpectedly zero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Amounts imported as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ISNUMBER; correct source/import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Stage groups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won and Won differ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Standardise against allowed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Revenue inflated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Duplicate enquiry ID counted twice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duplicate IDs before removal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Dates and decimal separators depend on spreadsheet locale. ISO source dates and explicit type checks reduce ambiguity.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Document required columns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Dropdown 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Reject invalid new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Cleaning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duplicates from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Formula range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Exclude headers and quarantined rows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 unique IDs after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Invalid PendingRejected input blocked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TYPE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Amounts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ISNUMBER true on report 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E003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Duplicate resolution documented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Clean sheet contains 12 unique enquiries, valid stages and numeric amounts; duplicate/type decisions and invalid-input rejection are evidenced.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Identifier rule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Duplicate rows may be repeats rather than new customers. Resolve using the stable enquiry ID before summing 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Type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Formatting a text cell as currency does not guarantee numeric values. Check ISNUMBER and the source import.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Validation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allowed-value dropdown standardises new edits; audit existing invalid values rather than assuming validation cleans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Locale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Dates and decimal separators depend on spreadsheet locale. ISO source dates and explicit type checks reduce ambiguity.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ACTIVITY08 · K2 K4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Sheets import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activities/activity-08-sheets-import-schema-and-data-validation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Enquiry data has duplicate IDs, numeric amounts stored as text and inconsistent stages. A marketing report is unreliable until the data contract is validated.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 sheet contains 12 unique enquiries, valid stages and numeric amounts; duplicate/type decisions and invalid-input rejection are evidenced.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 sheet contains 12 unique enquiries, valid stages and numeric amounts; duplicate/type decisions and invalid-input rejection are evidenced.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 enquiries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one row per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Stage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COUNTIF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SUMIF Won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Won / total enquiries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25% conversion rate here means Won enquiries divided by all 12 validated enquiries. It does not mean website visitor conversion.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Total enquiries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=COUNTA(A2:A13)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 validated IDs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Won enquiries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=COUNTIF(C2:C13,"Won")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Won records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Won revenue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=SUMIF(C2:C13,"Won",D2:D13)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960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=IF(B2=0,"No data",B3/B2)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Summary B2 total 12; B3 Won 3; result 25%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SUMIF matches the stage column and sums the corresponding amount range. Keep both ranges aligned.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 enquiries = 12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enquiries = 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amounts = 360 + 180 + 420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revenue = SGD 960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Conversion = 3 / 12 = 25%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pipeline value = SGD 2820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Average won value = 960 / 3 = SGD 320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Ratio uses enquiries, not page 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Named denominator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25% conversion rate here means Won enquiries divided by all 12 validated enquiries. It does not mean website visitor conversion.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Conditional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SUMIF matches the stage column and sums the corresponding amount range. Keep both ranges aligned.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Empty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IFERROR avoids a divide error but a displayed zero can hide no data. Display an explicit no-data label in the report.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the period denominator greater than zero?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calculate and label the rate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report No data and avoid interpretation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IFERROR avoids a divide error but a displayed zero can hide no data. Display an explicit no-data label in the report.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SUMIF wrong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 range offset from criteria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row 2:13 on both ranges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Conversion exceeds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Numerator and denominator from different populations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same validated enquiry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Zero interpreted as failure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Empty period masked by IFERROR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No data alongside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Independent hand calculation on three won records should match the spreadsheet result before charts are published.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Clean validated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Exclude duplicate/quarantined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numerator and denominator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Peer 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Recompute three won amounts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unsupported visitor claims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Unique 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 rows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Won revenue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960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Won / enquiries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25% with cohort label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Total 12, Won 3, Won revenue SGD 960, conversion 25%, average won SGD 320 all match hand calculation and report labels identify the cohort.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Named denominator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25% conversion rate here means Won enquiries divided by all 12 validated enquiries. It does not mean website visitor conversion.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Conditional aggregation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SUMIF matches the stage column and sums the corresponding amount range. Keep both ranges aligned.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Empty period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IFERROR avoids a divide error but a displayed zero can hide no data. Display an explicit no-data label in the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Independent hand calculation on three won records should match the spreadsheet result before charts are published.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ACTIVITY09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Formulas and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activities/activity-09-sheets-formulas-and-operational-checks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Operations needs the enquiry pipeline value and conversion rate. Compute explicit numerators and denominators rather than relying on an unlabeled percentage.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12, Won 3, Won revenue SGD 960, conversion 25%, average won SGD 320 all match hand calculation and report labels identify the cohort.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12, Won 3, Won revenue SGD 960, conversion 25%, average won SGD 320 all match hand calculation and report labels identify the cohort.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headers and typed values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user-specific 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Pivot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stage -&gt; count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linked summary values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filter hides rows in a view; it does not delete them. Verify the source range before interpreting a chart.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Basic filter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Shared sheet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May change what other users see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Filter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Saved named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Does not disrupt another user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Pivot rows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New/Qualified/Won/Lost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Pivot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COUNTA enquiry_id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Counts records, not amount totals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Count of IDs answers how many enquiries; SUM of amount answers pipeline value. These are different measures.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Stage, Enquiry 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New,4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Qualified,3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Won,3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Lost,2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Total,12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share = 3/12 =25%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Chart title: Validated enquiry stages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View versus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filter hides rows in a view; it does not delete them. Verify the source range before interpreting a chart.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Pivot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 of IDs answers how many enquiries; SUM of amount answers pipeline value. These are different measures.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Chart choice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column chart compares stage counts. A line chart would imply an ordered temporal trend that these categories do not provide.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Are categories time-ordered measurements?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line chart may show change over time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use column/bar for stage comparisons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column chart compares stage counts. A line chart would imply an ordered temporal trend that these categories do not provide.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Partner loses visible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Basic filter applied to shared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filter view instead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Pivot counts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range omitted final row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pivot source 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Won shown as revenue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measure/title pairing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count and currency separately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Open the sheet as a second editor and verify a filter view selection does not alter the other editor’s working view.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Clean A1: D13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Each user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filter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Aggregation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Peer 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Counts total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Visual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title and measure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qualified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Partner view unaffected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PIVOT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 counts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4,3,3,2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Pivot count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Column chart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Counts match source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Filter view does not disrupt peer view; pivot counts 4/3/3/2 total 12; chart is editable and correctly labels enquiry counts.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View versus data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filter hides rows in a view; it does not delete them. Verify the source range before interpreting a chart.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Pivot aggregation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Count of IDs answers how many enquiries; SUM of amount answers pipeline value. These are different measures.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Chart choice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column chart compares stage counts. A line chart would imply an ordered temporal trend that these categories do not provide.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Collaboration test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Open the sheet as a second editor and verify a filter view selection does not alter the other editor’s working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ACTIVITY10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views pivots and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activities/activity-10-filter-views-pivots-and-editable-charts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Sales and Operations need different filtered views without disrupting each other. Summarise enquiry stages and visualise counts using the validated 12-row cohort.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Filter view does not disrupt peer view; pivot counts 4/3/3/2 total 12; chart is editable and correctly labels enquiry counts.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Filter view does not disrupt peer view; pivot counts 4/3/3/2 total 12; chart is editable and correctly labels enquiry 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product register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Slide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title + visual hierarchy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Linked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 sheet reference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Customer copy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audience checked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Title, image and concise verified values make the decision legible; the source register still governs correctness.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Slide title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Storage that fits your home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Specific customer-facing message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Price field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Matches approved 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Chart period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September 2026 synthetic cohort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Identifies sample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 link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Controlled Google 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 access separate from edit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linked Sheets chart is a dependency. A later update needs review before refreshing the customer deck.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PRESENTATION RELEASE PITCH-01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Slide 1: product and approved SGD 29 price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Slide 2: delivery eligibility and returns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Slide 3: enquiry stages 4/3/3/2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Chart caption: synthetic September cohort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Internal margin: excluded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 checkpoint: Approved pitch v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copy: named training viewer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Visual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Title, image and concise verified values make the decision legible; the source register still governs correctness.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Chart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linked Sheets chart is a dependency. A later update needs review before refreshing the customer deck.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Audience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Sharing a presentation does not necessarily grant the viewer access to every linked source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customer need the editable source sheet?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share a reviewed non-sensitive source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provide the approved presentation snapshot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Sharing a presentation does not necessarily grant the viewer access to every linked source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Linked chart out of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changed after insertion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current data and refresh deliberately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Customer cannot open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ACL separate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source or use snapshot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Notes contain internal margin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deck reused without release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private notes and inspect export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Remove internal commentary and cost values from the customer copy; inspect the exported PDF and permission state.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 product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synthetic period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Layout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Readable visual hierarchy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Release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Viewer/privacy check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 slide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4/3/3/2 with synthetic label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Notes/comments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internal cost values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PDF/viewer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Readable and accessible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Three customer slides use approved facts, clear visual hierarchy and synthetic-data chart label; private cost details are absent and viewer access is verified.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Visual hierarchy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Title, image and concise verified values make the decision legible; the source register still governs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Chart dependency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linked Sheets chart is a dependency. A later update needs review before refreshing the customer deck.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Audience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Sharing a presentation does not necessarily grant the viewer access to every linked source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Remove internal commentary and cost values from the customer copy; inspect the exported PDF and permission state.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ACTIVITY11 · K2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Slides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activities/activity-11-slides-assets-and-customer-presentation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Marketing needs a short customer presentation containing only approved product facts and a pipeline chart with a clear data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customer slides use approved facts, clear visual hierarchy and synthetic-data chart label; private cost details are absent and viewer access is verified.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Slides, Sheets,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customer slides use approved facts, clear visual hierarchy and synthetic-data chart label; private cost details are absent and viewer access is verified.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questions and 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responder audience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response fields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Response 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restricted spreadsheet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Current Forms requires publication before responders can access a form. Editor sharing and responder access are separate.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Question fields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name, email, product, consent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Collect minimum relevant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Collect 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or responder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deliberately and disclose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Limit 1 response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Google sign-in 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suitable for all anonymous visitors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Summary visibility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 results summary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May reveal full text to responders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one-response limit requires sign-in but does not by itself record the username; email collection is a distinct setting.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 CONTRACT ENQ-01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product: Storage box / Desk lamp / Shelf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email: responder input for this scenario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consent: required contact permission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response summary: OFF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linked sheet: Restricted staff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 status: Published to training audience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response: synthetic@example.invalid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Publish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Current Forms requires publication before responders can access a form. Editor sharing and responder access are separate.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Email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one-response limit requires sign-in but does not by itself record the username; email collection is a distinct setting.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Summary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Response summaries can expose full-text answers or charts to responders. Keep summary visibility off for private enquiries.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Must visitors respond without a Google login?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avoid sign-in-only response constraints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document sign-in requirement and audience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summaries can expose full-text answers or charts to responders. Keep summary visibility off for private enquiries.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Responder sees unpublished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 draft not published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to authorised training responders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Private answers visible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Results summary enabled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Disable summary and retest responder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External visitor blocked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Audience or sign-in restriction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responder controls to intended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published enquiry form does not justify publishing the linked response spreadsheet containing customer contact details.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Minimum fields and consent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Responder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audience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 storage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 staff sheet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identity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one synthetic record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Responder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training form opens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contact permission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Responder 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private response summary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SHEET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spreadsheet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Staff-only Restricted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Published responder link works; consent is required; private results summary is off; response sheet stays restricted and synthetic response is correctly captured.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Publish requirement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Current Forms requires publication before responders can access a form. Editor sharing and responder access are separate.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Email collection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one-response limit requires sign-in but does not by itself record the username; email collection is a distinct setting.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Summary risk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Response summaries can expose full-text answers or charts to responders. Keep summary visibility off for private enquiries.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Response ACL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published enquiry form does not justify publishing the linked response spreadsheet containing customer contact details.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ACTIVITY12 · K2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Forms publishing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activities/activity-12-forms-publication-consent-and-response-schema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Harbour Home Supplies needs a customer enquiry form. Its responder audience, email collection and response visibility are independent choices with privacy consequences.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Published responder link works; consent is required; private results summary is off; response sheet stays restricted and synthetic response is correctly captured.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Forms, 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Published responder link works; consent is required; private results summary is off; response sheet stays restricted and synthetic response is correctly captured.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Rating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allowed 1..5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required response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Validated cohort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 synthetic records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Feedback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mean + response limitation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1–5 boundary is part of the question contract; distinguish unanswered from a genuine low score.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Integer 1..5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Reject out-of-range input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issue_category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/ Product / Website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Controlled choices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F001..F010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Unique synthetic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mean_rating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=AVERAGE(B2:B11)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36/10 =3.6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mean 3.6 uses 10 valid responses. A positive share 60% uses ratings 4 or 5 and the same 10-response denominator.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response_id, rating, issue_category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F001,4, Delivery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F002,3, Website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F003,5, Product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F004,2, Website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ratings:4,3,5,2,4,3,4,5,2,4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sum:36; count:10; mean:3.6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positive ratings &gt;=4:6/10 =60%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1–5 boundary is part of the question contract; distinguish unanswered from a genuine low score.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mean 3.6 uses 10 valid responses. A positive share 60% uses ratings 4 or 5 and the same 10-response denominator.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convenience feedback is evidence for practising analysis, not a verified claim about real customer satisfaction.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every included rating valid and non-missing?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calculate the labeled sample result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report exclusions before interpretation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convenience feedback is evidence for practising analysis, not a verified claim about real customer satisfaction.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Mean greater than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Out-of-range value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Validate 1..5 and quarantine invalid 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Blank counted as zero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interpreted as negative feedback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missing from rating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60% called customer-wide satisfaction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 overgeneralised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synthetic 10-response sample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Tie the lowest Website scores to a testable navigation improvement and define what evidence would indicate success.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Rating bounds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1..5 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invalid/missing rows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sample size and period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Website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navigation improvement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Acceptance evidence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Valid sample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3.6/5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POSITIVE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Rating 4 or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6/10 =60%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Website issue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Navigation test defined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Validated 10-response sample has mean 3.6/5 and 6/10 positive ratings; report labels synthetic scope and proposes a measurable website improvement.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Validation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1–5 boundary is part of the question contract; distinguish unanswered from a genuine low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Aggregation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mean 3.6 uses 10 valid responses. A positive share 60% uses ratings 4 or 5 and the same 10-response denominator.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Interpretation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convenience feedback is evidence for practising analysis, not a verified claim about real customer satisfaction.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Action link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Tie the lowest Website scores to a testable navigation improvement and define what evidence would indicate success.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validation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activities/activity-13-forms-validation-and-customer-feedback-analysis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feedback survey contains satisfaction ratings outside 1–5 and missing responses. Validate inputs and interpret the sample without turning a small survey into a population claim.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Validated 10-response sample has mean 3.6/5 and 6/10 positive ratings; report labels synthetic scope and proposes a measurable website improvement.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Forms, 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Validated 10-response sample has mean 3.6/5 and 6/10 positive ratings; report labels synthetic scope and proposes a measurable website improvement.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Incoming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sender + subject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matching search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apply Enquiries label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matching and non-matching…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filter applies the criteria to messages. A reply without matching fields need not inherit the same filter action.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subject:(HHS enquiry)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matching messages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label Enquiries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need not archive message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Existing 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filter to matching conversations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explicitly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Reply behaviour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Criteria checked on message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Replies need their own match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label categorises a message without necessarily removing it from Inbox; Archive is a separate action.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MESSAGE TEST SET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M01 subject: HHS enquiry storage -&gt;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M02 subject: Newsletter September -&gt; no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M03 subject: HHS enquiry lamp -&gt;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M04 subject: Delivery update -&gt; no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filter action: Apply Enquiries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automatic forwarding: not used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expected labeled test subjects:2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Matching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filter applies the criteria to messages. A reply without matching fields need not inherit the same filter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label categorises a message without necessarily removing it from Inbox; Archive is a separate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Search before mutation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Preview the exact search matches before saving a routing rule, particularly before forwarding or deletion.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preview select only enquiry messages?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apply the narrow label rule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tighten sender/subject criteria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Preview the exact search matches before saving a routing rule, particularly before forwarding or deletion.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Newsletter labeled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Criteria too broad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Preview and narrow subject/sender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Reply not labeled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Reply fails saved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Inspect its actual fields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Old mail unaffected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Existing matching option not selected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explicitly only if intended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Automatic forwarding is a data-disclosure action. The training rule applies a local label 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Criteria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Approves exact match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forwarding/deletion in 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Positive and negative examples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Mailbox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Delete obsolete training rule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M01/M03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Enquiries label present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NEGATIVE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M02/M04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absent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 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forwarding or delete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 rule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Removed after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Positive and negative message tests match the declared criteria; action is label only and the report distinguishes reply criteria from conversation grouping.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Matching contract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filter applies the criteria to messages. A reply without matching fields need not inherit the same filter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Labels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label categorises a message without necessarily removing it from Inbox; Archive is a separate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Search before mutation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Preview the exact search matches before saving a routing rule, particularly before forwarding or deletion.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Privacy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Automatic forwarding is a data-disclosure action. The training rule applies a local label only.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ACTIVITY14 · K3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Gmail filters and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activities/activity-14-gmail-routing-labels-and-search-controls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Sales loses customer enquiries among newsletters. Route only matching messages to a label and verify that a reply is treated according to its own criteria.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Positive and negative message tests match the declared criteria; action is label only and the report distinguishes reply criteria from conversation grouping.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Gmail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Positive and negative message tests match the declared criteria; action is label only and the report distinguishes reply criteria from conversation grouping.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Mailbox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authorised Google account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Delegate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invited support identity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Mail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 / send / delete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revoke delegation at exit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delegate can manage email, including deleting messages. Grant only to trusted support staff and record review ownership.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Delegate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Google account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Mailbox permissions, not password sharing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Allowed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Read, send, delete email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Broad mailbox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Not allowed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owner password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a full account takeover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Alias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Alternate email address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independent delegatable account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alias is an alternate address, not a separate Google Account. Do not design a delegated mailbox around an alias.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SUPPORT ACCESS DECISION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mailbox: support@harbour.example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staff: named authorised delegate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shared password: prohibited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alias: sales@harbour.example -&gt; not own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scope: email management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offboarding: remove delegation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reply template: approved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Delegation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delegate can manage email, including deleting messages. Grant only to trusted support staff and record review ownership.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Account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alias is an alternate address, not a separate Google Account. Do not design a delegated mailbox around an alias.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Restrictions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Delegation does not grant all non-email integrations or account security controls. Verify the current surface’s supported features.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support an actual mailbox account?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evaluate named delegation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alias cannot serve as separate delegated account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Delegation does not grant all non-email integrations or account security controls. Verify the current surface’s supported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Alias absent from delegated accounts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Alias has no separate mailbox account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correct mailbox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Staff uses owner password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Shared credential bypasses accountability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Replace with authorised named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Delegate retains access after exit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Delegation not revoked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delegation and review grants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an approved response template and link to current public terms, while keeping personal customer details inside the restricted mailbox.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Access grant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Mailbox owner/admin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authorised delegate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 template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Support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Verified customer terms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Offboarding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delegation explicitly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Support staff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unnecessary customer exports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Mailbox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Account versus alias identified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Read/send/delete documented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Template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terms and current links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Procedure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Delegation-removal owner named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Access design distinguishes mailbox account from alias, documents delegate scope and revocation, and produces a fact-checked customer response without shared credentials.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Delegation scope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delegate can manage email, including deleting messages. Grant only to trusted support staff and record review ownership.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Account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alias is an alternate address, not a separate Google Account. Do not design a delegated mailbox around an alias.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Restrictions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Delegation does not grant all non-email integrations or account security controls. Verify the current surface’s supported features.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Customer handling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an approved response template and link to current public terms, while keeping personal customer details inside the restricted mailbox.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ACTIVITY15 · K1 K7 A1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Delegation and support replies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activities/activity-15-gmail-delegation-and-customer-response-governance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Customer-support staff need access to a shared support mailbox. Sharing the password creates an identity and accountability problem; compare delegation with forwarding or alias 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design distinguishes mailbox account from alias, documents delegate scope and revocation, and produces a fact-checked customer response without shared credentials.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Gmail; delegation demonstration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 design distinguishes mailbox account from alias, documents delegate scope and revocation, and produces a fact-checked customer response without shared credentials.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Working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Asia/Singapore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Conflict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selected calendars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Booking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available slots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Booked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calendar entry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absolute instant and display timezone are different. Record timezone explicitly in invitations and customer instructions.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Time zone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Asia/Singapore UTC+8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exported meeting times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Duration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Defined consultation slot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Availability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10:00–12:00 weekdays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policy for this scenario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Sharing level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Free/busy where appropriate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from full event details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Booking availability reflects configured calendars and busy events. Verify the selected conflict calendars rather than assuming all calendars are checked.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BOOKING EXAMPLE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Singapore slot:2026-09-14 10:00 +08:00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UTC equivalent:2026-09-14 02:00Z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Duration:30 min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Busy slot:10:30–11:00 Singapore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Bookable offered slot:11:00 Singapore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Private event title: not shared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Premium booking features: edition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Time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absolute instant and display timezone are different. Record timezone explicitly in invitations and customer instructions.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Conflicts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Booking availability reflects configured calendars and busy events. Verify the selected conflict calendars rather than assuming all calendars are checked.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Free/busy reveals availability without necessarily sharing event titles. Review the calendar’s actual permission 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account offer appointment schedules?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configure and test training availability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use standard event and document fallback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Free/busy reveals availability without necessarily sharing event titles. Review the calendar’s actual permission level.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Customer books busy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Relevant calendar not checked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conflict-calendar selection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Meeting shifted 8 hours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Timezone omitted or misread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Singapore and UTC instant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Customer sees private title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Calendar sharing too broad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intended free/busy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Appointment schedules and premium capabilities depend on account/subscription. A standard event invitation is the classroom fallback.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Control ownership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Schedule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Sales lead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Defines duration and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Calendar 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Minimum audience visibility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Timezone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Organiser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Labels Singapore/UTC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 identity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booking and busy exclusion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Acceptance evidence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10:00 +08:00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02:00 UTC same instant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BUSY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10:30–11:00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Excluded where configured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private titles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 slot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booking creates expected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Booking route: timezone is correct, configured busy slot is excluded and a test booking creates an event. Standard-event fallback: invitation displays the same Singapore/UTC instant and intended audience; booking checks are explicitly Not executed.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Time contract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absolute instant and display timezone are different. Record timezone explicitly in invitations and customer instructions.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Conflicts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Booking availability reflects configured calendars and busy events. Verify the selected conflict calendars rather than assuming all calendars are checked.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Free/busy reveals availability without necessarily sharing event titles. Review the calendar’s actual permission level.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Edition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Appointment schedules and premium capabilities depend on account/subscription. A standard event invitation is the classroom fallback.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ACTIVITY16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Calendar availability and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activities/activity-16-calendar-availability-and-booking-boundaries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Sales offers consultations to Singapore customers while a partner works in another time zone. An availability link should show bookable slots without exposing private event details.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Booking route: timezone is correct, configured busy slot is excluded and a test booking creates an event. Standard-event fallback: invitation displays the same Singapore/UTC instant and intended audience; booking checks are explicitly Not executed.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Booking route: timezone is correct, configured busy slot is excluded and a test booking creates an event. Standard-event fallback: invitation displays the same Singapore/UTC instant and intended audience; booking checks are explicitly Not executed.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organiser + invited…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controls +…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owner and due 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Optional recording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availability + permission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Meeting controls depend on host, account and administrator settings. Review who can join and present before sharing sensitive content.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Meeting identity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Calendar organiser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Authorised host controls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Screen share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browser tab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unrelated windows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Edition/admin/role dependent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assume free availability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 item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owner, due_on, 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decision record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Sharing a tab narrows the visible surface compared with an entire screen, but learners still check the content and notifications.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MEETING DECISIONS MR-01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decision: approve storage-box brochure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owner: Marketing lead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due_on:2026-09-16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status: Open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recording: Not used in core exercise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evidence: written decisions and attendance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shared screen: approved product tab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Host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Meeting controls depend on host, account and administrator settings. Review who can join and present before sharing sensitive content.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Screen disclosure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Sharing a tab narrows the visible surface compared with an entire screen, but learners still check the content and notifications.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Recording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Availability and save location depend on the edition and meeting context. Recording also requires an approved purpose and participant notice.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recording authorised and available?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explain purpose, notice and storage controls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capture approved written decisions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Availability and save location depend on the edition and meeting context. Recording also requires an approved purpose and participant notice.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Recording control absent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Edition/admin/role 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written record; note limitation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Customer sees internal window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share surface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share; select approved tab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 has no 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Discussion not translated to work item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 owner and due 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written decision/action record is the durable output for this exercise; it is not replaced by an unreviewed recording.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Invite authorised participants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Presenter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single tab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Capture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Meeting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Purpose/notice/storage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Follow-up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Due date and status update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Participants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training 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Visible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product tab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Brochure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Approval and rationale recorded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 lead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Due 2026-09-16; Open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Approved tab only is shared, written decision and two owned actions persist, and recording limitations/privacy controls are accurately documented.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Host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Meeting controls depend on host, account and administrator settings. Review who can join and present before sharing sensitive content.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Screen disclosure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Sharing a tab narrows the visible surface compared with an entire screen, but learners still check the content and notifications.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Recording scope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Availability and save location depend on the edition and meeting context. Recording also requires an approved purpose and participant notice.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Decision persistence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written decision/action record is the durable output for this exercise; it is not replaced by an unreviewed recording.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ACTIVITY17 · K3 K7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Meet sharing and decision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activities/activity-17-meet-collaboration-and-recording-controls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product-review meeting needs decisions and action owners. Recording and transcripts are not assumed available or appropriate for every account or meeting.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 tab only is shared, written decision and two owned actions persist, and recording limitations/privacy controls are accurately documented.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Meet, Calendar,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 tab only is shared, written decision and two owned actions persist, and recording limitations/privacy controls are accurately documented.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Space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 members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thread and linked asset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owner + due date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Idea 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shared Slides evidence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space keeps shared discussion context and linked records; the underlying file still has its own sharing settings.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Space membership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Internal training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external audience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Thread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Launch decision 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rationale attached to discussion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fields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assignee, due date, status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Record ownership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Whiteboard alternative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brainstorm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Core exercise without third-party licence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task is actionable when an assignee and due date are explicit. Verify completion evidence, not only a chat acknowledgement.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LAUNCH SPACE CONTRACT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topic: September storage-box launch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members: paired training identities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thread: brochure approval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task: review delivery terms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assignee: Operations lead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due:2026-09-16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brainstorm: Slides idea board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Jamboard: retired 31 December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space keeps shared discussion context and linked records; the underlying file still has its own sharing settings.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Task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task is actionable when an assignee and due date are explicit. Verify completion evidence, not only a chat acknowledgement.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Retired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Jamboard is end-of-life. Rebuild its original brainstorm purpose with Slides or evaluate current third-party alternatives separately.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team need a licensed third-party board?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evaluate data access, cost and exit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use shared Slides brainstorm for core task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Jamboard is end-of-life. Rebuild its original brainstorm purpose with Slides or evaluate current third-party alternatives separately.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Member cannot open linked brochure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ACL differs from space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asset to intended members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remains unassigned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Chat message substituted for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 owner and due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Jamboard link fails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Retired application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Slides board; retain exported legacy evidence if available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External-space availability depends on administrator policy and space configuration. Keep classroom members internal unless explicitly authorised.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Space 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members and external policy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Independent link permission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Assignee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Accept due date and update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Facilitator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Tag idea, owner, metric and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Members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intended training identities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Brochure link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Opens for member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Terms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 and due 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Three measurable visitor improvements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Persistent discussion or documented fallback, owned task and three measurable ideas exist; no instructions depend on retired Jamboard.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Persistence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space keeps shared discussion context and linked records; the underlying file still has its own sharing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Task ownership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task is actionable when an assignee and due date are explicit. Verify completion evidence, not only a chat acknowledgement.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Retired product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Jamboard is end-of-life. Rebuild its original brainstorm purpose with Slides or evaluate current third-party alternatives separately.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External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External-space availability depends on administrator policy and space configuration. Keep classroom members internal unless explicitly authorised.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ACTIVITY18 · K3 K7 A3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Chat tasks and idea 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 minutes · Full procedure in Learner Guide and activities/activity-18-chat-spaces-tasks-and-whiteboarding-replacement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product launch needs a persistent discussion space and collaborative ideas. Legacy Jamboard instructions are unusable because the application ended 31 December 2024.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Persistent discussion or documented fallback, owned task and three measurable ideas exist; no instructions depend on retired Jamboard.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Chat, Slides, Tasks if available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Persistent discussion or documented fallback, owned task and three measurable ideas exist; no instructions depend on retired Jamboard.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Visitor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product/delivery/enquiry…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Site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Home / Products / Help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Page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text + embed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Source asset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independent Drive…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site map names pages and tasks; it is a design artifact, not a broad list of site benefits.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Page hierarchy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Home, Products, Delivery, Contact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Consistent task-based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Primary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 enquiry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visible destination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Unpublished changes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before publishing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Embedded asset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brochure PDF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 ACL checked separately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 Sites page can embed a file, but the file’s permission remains independent. A visible editor embed is not proof of customer access.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 MAP HHS-01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Home -&gt; product categories and enquiry action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Products -&gt; three approved product cards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Delivery -&gt;SGD 5 / free above SGD 80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Contact -&gt;published training enquiry form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Footer -&gt;contact and content review date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 catalogue -&gt;approved Drive asset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task -&gt;find delivery price in&lt;=2 clicks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Information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site map names pages and tasks; it is a design artifact, not a broad list of site benefits.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Content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Sites page can embed a file, but the file’s permission remains independent. A visible editor embed is not proof of customer access.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Draft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Editing a published site creates changes requiring publication; distinguish editor preview from current visitor content.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the visitor find delivery terms within 2 clicks?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validate wording and destination access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revise navigation and repeat task test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Editing a published site creates changes requiring publication; distinguish editor preview from current visitor content.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Viewer sees permission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Embedded file restricted to editors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release file appropriately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Terms absent from live site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 changes 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and publish current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Navigation uses internal jargon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Labels reflect departments, not visitor tasks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product/delivery/contact task labels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Evaluate a visitor’s ability to find the delivery price and enquiry action, then record observed completion and friction.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Page 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Maintains facts and review 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Navigation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Website editor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Task-oriented 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Source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Non-sensitive approved audience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test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Visitor tester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Observed&lt;=2 clicks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Four pages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Task labels consistent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SGD 5 / threshold SGD 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Brochure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Intended viewer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Delivery 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Located within 2 clicks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Four task-oriented pages with approved facts and a documented independent embed ACL exist; delivery terms are discoverable within 2 clicks in the test.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Information architecture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site map names pages and tasks; it is a design artifact, not a broad list of site benefits.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Content dependency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Sites page can embed a file, but the file’s permission remains independent. A visible editor embed is not proof of customer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Draft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Editing a published site creates changes requiring publication; distinguish editor preview from current visitor content.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Task test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Evaluate a visitor’s ability to find the delivery price and enquiry action, then record observed completion and friction.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ACTIVITY19 · K2 K3 K4 K5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Sites navigation and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 · Full procedure in Learner Guide and activities/activity-19-sites-architecture-navigation-and-draft-content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Customers cannot find delivery terms or the enquiry form on the SME site. Design a small information architecture around actual customer tasks and independent source assets.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task-oriented pages with approved facts and a documented independent embed ACL exist; delivery terms are discoverable within 2 clicks in the test.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Sites, Docs, Drive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task-oriented pages with approved facts and a documented independent embed ACL exist; delivery terms are discoverable within 2 clicks in the test.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Publish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published audience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Embed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Drive viewer audience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Embed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published responder…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Visitor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exact published URL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 viewers, embedded-file viewers and form responders are separate permission contracts. Align them deliberately.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Editor URL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Sites editing surface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the visitor release 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Published 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training site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current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Drive embed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General access + People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ACL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 embed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+ responders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responder contract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form can accept enquiries while its response sheet remains staff-only. Do not grant customers access to the response store.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 MATRIX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 visitor: paired training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 published: yes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brochure viewer: paired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 responder: paired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response sheet: owner only Restricted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mobile navigation: passed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due:2026-10-13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 3 audiences intentionally aligned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Three audiences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Site viewers, embedded-file viewers and form responders are separate permission contracts. Align them deliberately.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Response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form can accept enquiries while its response sheet remains staff-only. Do not grant customers access to the response store.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Maintenance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content facts, broken links, mobile layout, audience and review dates. Record findings and corrective action for each item.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published visitor view pass all 3 audiences?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record release and next review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fix the failed site/file/form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content facts, broken links, mobile layout, audience and review dates. Record findings and corrective action for each item.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Site opens; brochure denied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Drive embed ACL excludes visitor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Share approved file with intended 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 not accepting visitor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 unpublished or responder restricted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Publish/align responder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 data exposed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sheet broadened with 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response store separately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Open the exact published URL with the intended viewer. Editor preview does not establish current visitor behaviour.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training audience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Brochure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 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non-sensitive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responder access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Responses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Restricted staff access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Published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facts visible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Embed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Viewer opens brochure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submission succeeds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Response 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Uninvited visitor denied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Exact published site, brochure and form work for intended viewer; response sheet denies unauthorised access and maintenance checklist has resolved findings.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Three audiences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Site viewers, embedded-file viewers and form responders are separate permission contracts. Align them deliberately.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Response privacy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form can accept enquiries while its response sheet remains staff-only. Do not grant customers access to the response store.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Maintenance cycle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Check content facts, broken links, mobile layout, audience and review dates. Record findings and corrective action for each item.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Live verification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Open the exact published URL with the intended viewer. Editor preview does not establish current visitor behaviour.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ACTIVITY20 · K3 K4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Sites release and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 · Full procedure in Learner Guide and activities/activity-20-sites-publishing-embed-access-and-maintenance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editor sees a brochure and form correctly, but a customer gets permission errors. Validate site publication, responder access and embedded file sharing as separate controls.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Exact published site, brochure and form work for intended viewer; response sheet denies unauthorised access and maintenance checklist has resolved findings.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Sites, Drive, Forms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Exact published site, brochure and form work for intended viewer; response sheet denies unauthorised access and maintenance checklist has resolved findings.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public site vs internal…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Primary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current vendor contracts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Weighted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scores + rationale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fit + limits + owner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scores are an explicit fictional analyst judgement. They are not current market statistics or universal product rankings.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Criteria 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Ease 30, Public 25, Governance 25, Extension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Sum 100 in scenario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Score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1..5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Learner analysis, not vendor benchmark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Google Sites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Simple team/site authoring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against required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Other offerings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WordPress / SharePoint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roles and deployment context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Google Sites is a site builder within Workspace; Docs/Drive manage collaboration assets. Do not imply it supplies every workflow of a dedicated CMS.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SELECTION MATRIX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criterion, weight, Sites, WordPress, SharePoint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Ease,30,5,3,3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Public publishing,25,4,5,2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Governance,25,3,3,5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Extensions,20,2,5,4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weighted Sites:365/100=3.65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WordPress:390/100=3.90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SharePoint:345/100=3.45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Scenario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scores are an explicit fictional analyst judgement. They are not current market statistics or universal product rankings.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CMS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 Sites is a site builder within Workspace; Docs/Drive manage collaboration assets. Do not imply it supplies every workflow of a dedicated CMS.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WordPress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WordPress provides role/capability controls; hosting, updates and plugins introduce operational responsibilities that must be assigned.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a complex public publishing/extension workflow required?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evaluate dedicated CMS operations and costs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simple Sites workflow may satisfy requirements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WordPress provides role/capability controls; hosting, updates and plugins introduce operational responsibilities that must be assigned.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Weights total 110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Scoring arithmetic invalid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Normalise weights to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Vendor brochure treated as proof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Feature claim lacks contract 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official roles/permission documentation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High score hides unmet hard constraint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Weighted average masks mandatory need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must-have gate before ranking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SharePoint sharing and modern site permissions support Microsoft 365 collaboration; validate the audience and tenant configuration for the actual use case.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Must-have audience/workflow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 documentation +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team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Scenario rationale and weights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Sponsor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Cost, risks and exit plan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30+25+25+20=100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Sites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3.65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Offerings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Official links/date documented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Must-have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Failure excludes unsuitable option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Comparison covers Google Sites plus 2 offerings with dated primary sources, weights 100, correct 3.65/3.90/3.45 scores and a mandatory-constraint decision.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Scenario scores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scores are an explicit fictional analyst judgement. They are not current market statistics or universal product rankings.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CMS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Google Sites is a site builder within Workspace; Docs/Drive manage collaboration assets. Do not imply it supplies every workflow of a dedicated CMS.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WordPress roles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WordPress provides role/capability controls; hosting, updates and plugins introduce operational responsibilities that must be assigned.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SharePoint permissions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SharePoint sharing and modern site permissions support Microsoft 365 collaboration; validate the audience and tenant configuration for the actual use case.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ACTIVITY21 · K8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CMS weighted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activities/activity-21-cms-market-offerings-and-weighted-selection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SME choosing between Google Sites, WordPress and SharePoint needs a documented content-management decision, including audience, editing workflow, integrations and operational ownership.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Comparison covers Google Sites plus 2 offerings with dated primary sources, weights 100, correct 3.65/3.90/3.45 scores and a mandatory-constraint decision.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Sheets, browser research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Comparison covers Google Sites plus 2 offerings with dated primary sources, weights 100, correct 3.65/3.90/3.45 scores and a mandatory-constraint decision.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TOPIC3 · 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Metrics add-ons and integration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K5 K6 K7 K9 A2 A5 A6 A7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Event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synthetic event log /…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Population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document + period + actor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views / editors /…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metric + limitation +…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event, population and denominator. View frequency counts events; unique viewers deduplicate identities; these answer different questions.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action=view per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Event count is not unique visitors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Unique viewers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distinct actor_id for views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stable identifiers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Collaboration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docs with&gt;=2 editors / edited docs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Defined business measure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Data provenance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mock / live admin 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source and availability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Core activity uses synthetic event data. Live Admin reports require authorised roles and feature availability; they are a separately demonstrated source.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MONTHLY METRIC CONTRACT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period: September 2026 training sample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DOC01 views 24; editors 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DOC02 views 18; editors 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DOC03 views 12; editors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DOC04 views 6; editors 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 view events 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collaborative docs 2/4 =50%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unique-viewer counts need actor 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Metric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event, population and denominator. View frequency counts events; unique viewers deduplicate identities; these answer different questions.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Core activity uses synthetic event data. Live Admin reports require authorised roles and feature availability; they are a separately demonstrated source.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Collaboration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Our 50% rate means two of four edited documents have at least two distinct editors. It is a business-defined measure, not a guaranteed built-in report label.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the dataset contain distinct actor IDs?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compute unique viewers/editors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report event counts and identity limitation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Our 50% rate means two of four edited documents have at least two distinct editors. It is a business-defined measure, not a guaranteed built-in report label.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Views called 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Repeated/internal events misclassified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view events and source population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Collaboration denominator wrong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assets included instead of edited 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defined 4 edited-doc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Admin metric unavailable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Role/edition/report limitation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labelled synthetic data; record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High access is not automatically success. Pair a measurable user task or enquiry outcome with content activity and note source limitations.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synthetic or verified live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pseudonymous actor 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Definition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 numerator/denominator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Check totals and limitations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DOC01..04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24+18+12+6=60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DOC01..04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3,2,1,1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COLLAB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&gt;=2 editors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2/4=50%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Synthetic explicitly stated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Report correctly shows 60 view events and 50% defined collaboration across 4 edited docs, with explicit synthetic source, population and limitation notes.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Metric definition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Define event, population and denominator. View frequency counts events; unique viewers deduplicate identities; these answer different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Provenance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Core activity uses synthetic event data. Live Admin reports require authorised roles and feature availability; they are a separately demonstrated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Collaboration rule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Our 50% rate means two of four edited documents have at least two distinct editors. It is a business-defined measure, not a guaranteed built-in report label.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Interpretation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High access is not automatically success. Pair a measurable user task or enquiry outcome with content activity and note source limitations.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ACTIVITY22 · K6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Metrics and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 · Full procedure in Learner Guide and activities/activity-22-workspace-metrics-and-evidence-provenance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original practical assessment requests document access frequency, collaboration rate and engagement. Report defined measures from labelled synthetic events without claiming unavailable tenant telemetry.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Report correctly shows 60 view events and 50% defined collaboration across 4 edited docs, with explicit synthetic source, population and limitation notes.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Sheets; Admin reporting demonstration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Report correctly shows 60 view events and 50% defined collaboration across 4 edited docs, with explicit synthetic source, population and limitation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Landing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1000 synthetic sessions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Product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600 sessions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Enquiry starts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 sessions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 completed enquiries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cohort/time period where stages are comparable. The supplied funnel is explicitly synthetic and simplified for practice.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Product reach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600/1000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60% of landing cohort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Start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120/600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20% of product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Completion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72/120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60% of starters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Visitor conversion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72/1000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7.2% of landing cohort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Completion 60% and visitor conversion 7.2% can both be correct because their denominators differ.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FUNNEL SEPTEMBER SYNTHETIC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Landing:1000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Product:600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Enquiry starts:120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Submitted:72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largest absolute drop: landing-&gt;product 400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 abandonment:48/120=40%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visitor conversion:72/1000=7.2%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Population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a cohort/time period where stages are comparable. The supplied funnel is explicitly synthetic and simplified for practice.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Different denominators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Completion 60% and visitor conversion 7.2% can both be correct because their denominators differ.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Instrumentation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Real visitor measurement requires configured analytics and approved data collection. Drive file activity is not a substitute for site visitor sessions.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Is completion below the scenario target 75%?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test form friction with approved minimal fields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examine upstream navigation and qualified outcomes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Real visitor measurement requires configured analytics and approved data collection. Drive file activity is not a substitute for site visitor sessions.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Conversion 60% shown as visitor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Starter denominator mistaken for landing cohort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Label each ratio explicitly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Analytics reports no visitors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Instrumentation not configured/available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actual collection; avoid invented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Three ideas cannot be tested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measure or owner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threshold, period and accountable owner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Improve product navigation, shorten enquiry fields and offer booking. Each idea names friction, owner, metric and an acceptance threshold.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Website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Approved instrumentation and privacy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Cohort/time alignment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Experiment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Marketing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change and declared 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Sponsor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outcomes and side effects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1000/600/120/72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7.2% landing cohort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IDEA1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Navigation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 reach target&gt;=70%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IDEA2/3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Form/booking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Completion&gt;=75%; availability test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Funnel and ratios are correct and labelled synthetic; three ideas name friction, owner, measure, threshold and test period.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Population alignment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a cohort/time period where stages are comparable. The supplied funnel is explicitly synthetic and simplified for practice.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Different denominators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Completion 60% and visitor conversion 7.2% can both be correct because their denominators differ.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Instrumentation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Real visitor measurement requires configured analytics and approved data collection. Drive file activity is not a substitute for site visitor sessions.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Testable ideas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Improve product navigation, shorten enquiry fields and offer booking. Each idea names friction, owner, metric and an acceptance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ACTIVITY23 · K6 K7 A5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Visitor funnel and experiments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activities/activity-23-visitor-journey-funnel-and-improvement-tests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Marketing wants three customer-experience improvements. Use a synthetic visitor funnel and test definitions rather than asserting website analytics is automatically available from Drive.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Funnel and ratios are correct and labelled synthetic; three ideas name friction, owner, measure, threshold and test period.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Sheets, Sites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Funnel and ratios are correct and labelled synthetic; three ideas name friction, owner, measure, threshold and test period.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approved PDF workflow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Marketplace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publisher and requested…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Consent/admin 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allowed app and scopes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Pilot + exit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test, revoke, 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requested OAuth permission describes data access, not a quality endorsement. Compare it with the actual business requirement.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Functional 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Merge approved PDFs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Requirement-specific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Requested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Files / mail as declared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actual consent wording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Admin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Allowed / blocked / limited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Policy can prevent installation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Revoke OAuth and uninstall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access and installation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Workspace app availability may be controlled by administrator policy. A learner should submit a recommendation rather than bypass a blocked app.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EXTENSION REVIEW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Candidate A: PDF utility; files access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Candidate B: mail automation; files+mail access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Need: merge approved brochure PDFs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Preference: least sufficient data access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Publisher: verify current listing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 retention: must be documented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Pilot: synthetic non-sensitive files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Exit: export outputs; revoke; uninstall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Scope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requested OAuth permission describes data access, not a quality endorsement. Compare it with the actual business requirement.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Administrator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Workspace app availability may be controlled by administrator policy. A learner should submit a recommendation rather than bypass a blocked app.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Data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where content is processed, retention, deletion and subcontractors using current publisher evidence. Mark unknowns explicitly.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Are access and data handling proportionate to the need?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request approved limited pilot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reject or seek lower-access alternative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where content is processed, retention, deletion and subcontractors using current publisher evidence. Mark unknowns explicitly.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Install 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Administrator allowlist/policy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review request; do not bypass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Broad mail scope for PDF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Permission exceeds requirement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lower-access option or reject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Uninstall assumed revoke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OAuth connection may still require review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Revoke access and confirm installed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synthetic files, define output checks, limit the pilot audience and document revocation/uninstallation and output portability.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Business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Defines output and constraints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Publisher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Security reviewer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Scopes, handling and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Administrator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Permits limited pilot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Revoke/uninstall/export 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Candidate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PDF requirement matched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declared access recorded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PILOT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Mock PDFs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Correct readable merged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Connection/install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Revocation and uninstall procedure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One current add-on is evaluated with actual dated listing/access evidence, fit and data handling, administrator approval route, pilot checks and revocation/exit plan.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Scope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requested OAuth permission describes data access, not a quality endorsement. Compare it with the actual business requirement.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Administrator controls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Workspace app availability may be controlled by administrator policy. A learner should submit a recommendation rather than bypass a blocked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Data handling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Review where content is processed, retention, deletion and subcontractors using current publisher evidence. Mark unknowns explicitly.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Pilot and rollback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synthetic files, define output checks, limit the pilot audience and document revocation/uninstallation and output portability.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ACTIVITY24 · K9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Add-ons scopes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 minutes · Full procedure in Learner Guide and activities/activity-24-add-on-selection-scopes-and-administrator-controls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add-on promises PDF merge and customer follow-up, but requests broad file and mail access. Recommend a suitable extension only after fit, permissions, data handling and exit checks.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current add-on is evaluated with actual dated listing/access evidence, fit and data handling, administrator approval route, pilot checks and revocation/exit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Marketplace, Sheets; administrator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current add-on is evaluated with actual dated listing/access evidence, fit and data handling, administrator approval route, pilot checks and revocation/exit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User 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Content Register column 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Simple onEdit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bound sheet event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timestamp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column E same row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human edit vs script…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RUNTIME AND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onEdit receives an event for a user edit; clicking Run manually has no normal edit event, so the guard returns safely.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Contract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Field or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Scenario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Event object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e.range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Exists when user edit fires trigger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sheet name + column 3 + row&gt;1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Ignore unrelated/header edits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Write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column 5 new Date()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bound sheet for simple trigger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Authorization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Simple trigger cannot send mail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Installable runs creator if used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Simple triggers cannot call services that require authorisation, such as sending email; their runtime limit is 30 seconds.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Worked artifact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Synthetic training artifact; inspect fields and expected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function onEdit(e) {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if (!e || !e.range) return;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const r=e.range, s=r.getSheet();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if (s.getName()!=="Content Register") return;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if (r.getColumn()!==3 || r.getRow()&lt;2) return;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if(r.getNumRows()!==1 || r.getNumColumns()!==1)return;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  s.getRange(r.getRow(),5).setValue(new Date());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Trigger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onEdit receives an event for a user edit; clicking Run manually has no normal edit event, so the guard returns safely.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Simple-trigger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Simple triggers cannot call services that require authorisation, such as sending email; their runtime limit is 30 seconds.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Programmatic 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script/API setValue does not cause onEdit to run. Automation needs explicit timestamp logic or another deliberately designed trigger.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Does automation need authorised mail or other files?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Branch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YES: evaluate installable trigger/OAuth and owner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Branch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NO: bound-sheet timestamp fits simple trigger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script/API setValue does not cause onEdit to run. Automation needs explicit timestamp logic or another deliberately designed trigger.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Fault isolation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Mechanism /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Corrective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Manual Run changes nothing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edit event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Edit the training sheet column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Bulk paste not stamped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Guard excludes multi-cell edits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single-cell task or design bulk handling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Script edit not stamped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Programmatic edit does not fire onEdit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timestamp explicitly in that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An installable trigger runs as its creator and requires relevant consent. A REST API client requires its own OAuth/API configuration; do not paste credentials into files.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 ownership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Responsible 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/ constraint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Code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Bound training sheet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OnlyCurrentDoc where applicable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Simple onEdit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mail or external 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Credentials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Never embed tokens or passwords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Lifecycle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Automation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creator account and revoke triggers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Controls are applied at the actual owning surface. Written policy alone is not enforcement.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Acceptance evidence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Observed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Acceptance requirement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Row 2 column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Timestamp appears in E2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Row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timestamp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 column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timestamp change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Programmatic setValue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398264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398264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implicit onEdit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User edit C2 creates E2 timestamp; header/unrelated edits are ignored; report correctly states simple-trigger auth/runtime and programmatic-edit boundaries.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Analysis · 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Trigger identity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onEdit receives an event for a user edit; clicking Run manually has no normal edit event, so the guard returns safely.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Simple-trigger limit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Simple triggers cannot call services that require authorisation, such as sending email; their runtime limit is 30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Programmatic edit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script/API setValue does not cause onEdit to run. Automation needs explicit timestamp logic or another deliberately designed trigger.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Integration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 installable trigger runs as its creator and requires relevant consent. A REST API client requires its own OAuth/API configuration; do not paste credentials into files.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ACTIVITY25 · K5 K9 A2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Script and API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 minutes · Full procedure in Learner Guide and activities/activity-25-apps-script-and-api-integration-contract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The SME wants update timestamps on a content register and considers automated email. A safe bound-sheet example exposes the simple-trigger boundary before evaluating authorised integration.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 edit C2 creates E2 timestamp; header/unrelated edits are ignored; report correctly states simple-trigger auth/runtime and programmatic-edit boundaries.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Sheets, Apps Script; optional developer extension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 edit C2 creates E2 timestamp; header/unrelated edits are ignored; report correctly states simple-trigger auth/runtime and programmatic-edit boundaries.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verification and mail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DOMAIN SETUP CHANGE 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domain: harbour.example (fictional)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TXT proof: Google-provided verification token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MX purpose: route inbound mail to Google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MX target: use current Setup Wizard 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new standard setup:  smtp.google.com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verification status: separate from mail flow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evidence: verified domain + received test 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Separate mechanisms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Domain verification proves control of the domain. MX records route inbound email; one does not substitute for the other.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DNS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the authorised DNS administrator changes domain records. Use the exact current Google setup instructions for the tenant.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Mail cutover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Preserve the current routing design until the approved migration cutover. Mixed old/new records require deliberate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alias group and access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IDENTITY SCHEMA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user: individual Google Account with sign-in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alias: alternate address for existing account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group: membership-based mail/access audience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licence: product/service entitlement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status: active/suspended lifecycle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asset owner: individual or organisation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review: account, group, direct grants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user account has a sign-in identity and service entitlements; do not treat an alias as a separately licensed login.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Alias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alternate address can receive mail for its underlying account, but is not an independent delegated mailbox.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Membership grants audience-based access; offboarding must review groups as well as direct file permissions.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Suspension handover and deletion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OFFBOARDING CHANGE REQUEST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identity: departing Marketing editor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containment: approved suspension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inventory: My Drive files andownership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handover: transfer eligible business assets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shared drive: organisation content remains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delegation/group grants: review separately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deletion: only after approved retention/handover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Suspension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Suspension restricts account access while retaining the account’s data; it is not the same as deletion or ownership handover.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Inventory individually owned assets and verify transfer using the actual administrator workflow before approving deletion.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Independent grants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obsolete delegation and group membership explicitly. The lifecycle request lists each surface and its responsible owner.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availability and account security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ADMINISTRATOR CONTROL REQUEST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OU/group: Marketing training cohort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service: Sites enabled only if approved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 policy: allowed Marketplace utilities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2-Step Verification: enrolment and policy review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licence: required edition capability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external sharing: approved audience boundary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evidence: actual policy + test identity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Policy 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Service availability, app approval and sharing are different settings. Identify the actual policy surface and cohort.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2-Step Verification changes sign-in controls; it does not by itself restrict an already shared public file.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missing feature may be licence, role or administrator policy. Record which evidence would distinguish these causes.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knowledge.workspace.google.com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Workspace content tools and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NEED -&gt; WORKSPACE OFFERING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Drive: store and share controlled assets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Docs: structured text and reviewed edits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Sheets: typed registers, formulas and charts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Slides: approved visual presentation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Forms: published collection and responses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Sites: site pages andembedded assets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Gmail: mail routing andcustomer reply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Content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Drive stores assets; Docs, Sheets andSlides author distinct artifact types. Use the appropriate source of record.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Forms publishes questions and stores responses; its responder audience differs from the response-sheet audience.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Web 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Sites assembles pages and embeds, but does not automatically broaden access to embedded files.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workspace.google.com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Communication and optional extension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WORKFLOW NEED -&gt; OFFERING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Calendar: availability and event invitations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Meet: hosted meeting and screen-share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Chat: persistent team space and discussion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Tasks: owned follow-up work where available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Apps Script: bound or authorised automation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REST APIs: OAuth-enabled client integration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Marketplace: add-on with publisher/scope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Persistent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Meeting/chat communication links to controlled source assets; it does not replace document ownership or publication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Optional 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Edition/admin policy can limit booking, recording or app installation. Core exercise fallbacks are documented.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Apps Script identity and OAuth clients have explicit permission contracts; do not assume every extension runs with the same identity.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Retired applications and current replacements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LEGACY UPDATE RECORD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Jamboard app: end of life 31 December 2024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Core brainstorm: shared Slides board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Currents: unavailable from 5 July 2023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Core community: Google Chat spaces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Duet AI: now Gemini for Google Workspace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availability: current account/admin check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 output: source-check before publication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Jamboard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original brainstorm learning purpose remains; procedures use a current shared Slides board instead of retired Jamboard.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Currents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Replace legacy Currents community links with a current Chat-space design and review the audience/file boundaries.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Gemini 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Duet AI for Workspace is now Gemini for Workspace. Do not preserve retired labels as current controls or assume every AI capability is enabled.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Meet Companion mode and echo prevention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HYBRID MEETING TOPOLOGY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meeting room hardware: room audio/video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laptop Companion Mode: second screen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laptop microphone: off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meetingaudio on laptop: off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participation: chat/presentation features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speaker/listen route: room hardware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acceptance: no feedback +intended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Audio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Companion Mode disables the laptop microphone and meeting audio to avoid echo while using room audio.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Second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laptop can participate in supported collaboration surfaces while room hardware carries the conversation.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Supported features and devices vary. Verify the actual current account and device surface in the trainer demonstration.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Relative absolute and named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Formula Checks!H1 tax rate 0.09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Formula Checks!D2 net value 120; D3 net value 240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=D2*(1+$H$1) -&gt;130.8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Fill down: D3 changes; H1 stays fixed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Tax_Rate refers to 'Formula Checks'!$H$1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=D2*(1+Tax_Rate) -&gt;130.8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Relative D2 moves when filled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Absolute $H$1 anchors the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Relative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relative input reference follows the row when copied; an unanchored rate reference can drift into blank cells.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Absolute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Dollar markers lock column and row. Inspect the filled formula rather than checking only the first result.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Named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Tax_Rate gives the rate a business meaning but still needs an accurately defined source range.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Rounding and conditional averages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Clean!D2: D13 contains 12 amounts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=ROUND(2820/12,2) -&gt;235.00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=AVERAGE(Clean!D2:D13) -&gt;235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=AVERAGEIF(Clean!C2:C13,"Won",Clean!D2:D13)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amounts:360,180,420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average:960/3=320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display 2 decimals is not data rounding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round at defined business stage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Conditional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AVERAGEIF uses the qualifying stage cohort and corresponding amount range; all-enquiry mean 235 differs from Won mean 320.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ROUND changes the computed value at a specified precision. Formatting only controls how the number is displayed.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Precision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Specify when to round: per line or after aggregation. Different rounding sequences can produce different financial totals.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Extremes ranking and 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Validated amounts:120,240,360,180,90,150,300,420,60,200,500,200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=LARGE(Clean!D2:D13,2) -&gt;420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=SMALL(Clean!D2:D13,2) -&gt;90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=RANK(420,Clean!D2:D13,0) -&gt;2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maximum 500; minimum 60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values 200 and 200 form a tie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 n is not the same as unique top values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rank ties need explicit business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Nth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LARGE returns the nth largest value; SMALL returns the nth smallest. Repeated values participate in the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Rank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RANK with 0 ranks descending; verify the chosen order and population before interpreting a league 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Equal values can share a rank. State the tie-handling rule rather than implying a unique winner.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Conditional minimum maximum and no matches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Won cohort:360,180,420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=MINIFS(Clean!D2:D13,Clean!C2:C13,"Won") -&gt;180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=MAXIFS(Clean!D2:D13,Clean!C2:C13,"Won") -&gt;420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criteria range and value range must match size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cohort Absent has 0 matches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MINIFS withno match returns 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precheck COUNTIF forNo data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zero must not be mistaken forreal minimum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Conditional extrema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minimum and maximum apply only to the matching Won cohort, not to all enquiry amounts.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Range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value and criterion ranges need equal dimensions; misalignment is a contract defect.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No matches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MINIFS returns 0 when no criterion matches; check count before presenting 0 as a real business minimum.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Exact match lookup and source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Products!A2: C4: ID, name, price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P101, Desk lamp,49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P102, Storage box,29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P103, Wall shelf,79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=VLOOKUP("P102",Products!$A$2:$C$4,3,FALSE) -&gt;29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first column must contain search key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FALSE requests exact match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missing P999 -&gt;#N/A; review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Lookup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search key must be in the first column of the range; column index 3 returns price from this three-column range.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Exact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FALSE requests exact matching. Omitting this argument defaults to approximate mode and can yield an inappropriate result.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Stable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Anchor the lookup range before filling rows so each enquiry searches the same approved product source.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SUPPLEMENT · ACTIVITY10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Slicers filters and formula 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Worked supplementary contract; detailed procedure remains in the Learner Guide.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82296" cy="3794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23160"/>
            <a:ext cx="5532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SOURCE: Clean enquirytable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basicfilter: shared table 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filterview: saved independent view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slicer: controls matching charts/pivots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formula SUM overrange: own computation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slicer does not inherently rewrite formulas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verifychartsource andselected stage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unfiltered counts 4,3,3,2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286000"/>
            <a:ext cx="82296" cy="11521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377440"/>
            <a:ext cx="256032" cy="25603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2377440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Different surfaces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Basic filters, filter views and slicers change different presentation/analysis surfaces; choose based on collaboration need.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3547872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3547872"/>
            <a:ext cx="82296" cy="11521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8040" y="3639312"/>
            <a:ext cx="256032" cy="25603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3639312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Slicer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959352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slicer can filter charts/pivot tables sharing the intended dataset. Do not assume a normal SUM formula changes with the slicer.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809744"/>
            <a:ext cx="4416552" cy="11521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809744"/>
            <a:ext cx="82296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4901183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4901183"/>
            <a:ext cx="36393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Source 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221224"/>
            <a:ext cx="395020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Charts and pivots must point to the expected data range and measure. Verify the filtered output with raw matching rows.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Validated enquiry stage 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Counts total 12; Won 3 of 12=25%. Cohort: synthetic September enquiries.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developers.google.com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Enquiry pipeline and won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Won revenue SGD 960 is 360+180+420. Currency value differs from enquiry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Feedback rating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Ten synthetic ratings sum 36; mean 3.6. Six ratings 4 or 5 give 60% positive share.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CMS weighted selection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Fictional scores using weights 30/25/25/20; apply mandatory requirements before rank.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wordpress.org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view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60 synthetic view events; repeated events are not unique viewers or customers.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Distinct editors per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Documents with&gt;=2 editors:2 of 4 edited docs=50% business-defined collaboration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Synthetic visitor journey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Completion 72/120=60%; visitor conversion 72/1000=7.2%. Denominators differ.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EDITABLE NATIVE CHART · ACTIVITY22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 weekly access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event aggregation by days 1–7/8–14/15–21/22–28 gives 27/19/11/3, total 60; temporal order supports a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support.google.com · verified 13 Sep 2026 · full link in notes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 Availability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Current catalog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https://exams.tertiaryinfotech.com/practice-exams?q=Google%20 Workspace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Verified 13 September 2026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No matching Google Workspace practice-exam bundle was available.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Class preparation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Use the aligned Activity evidence and current course revision materials.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Formal assessment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WA9 questions/60 minutes and PP3 tasks/90 minutes remain the assessed instruments.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Practical Evidence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Original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Class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Activities 1,3,4: policy and update lifecycle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A1, 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Activities 19,20,21: maintenance and 2-offering comparison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71800"/>
            <a:ext cx="3934755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71800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A3, 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Task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Activities 22,23,24: metrics, add-on review,3 ideas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685032"/>
            <a:ext cx="3934755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685032"/>
            <a:ext cx="3678723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A5, A6, A7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Written Assessment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9 questions K1–K9;60 minutes; individual open-book.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Practical Performance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3 tasks A1–A7;90 minutes; individual open-book.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Complete the provided documents and upload on the current LMS.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Assessor decision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Competent / Not Yet Competent based on sufficient criterion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class digital attendance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assessment session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WA then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 min then 90 min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Submit 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completed answers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assessment summary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COMPLETION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Follow the current class submission and summary-record process.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Mandatory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TRAQOM · SSG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Complete required digital attendance.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Confirm recorded assessment session.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LMS submission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Check upload of completed responses.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Summary record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Sign the Assessment Summary Record as instructed.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TERTIARY INFOTECH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enquiry@tertiaryinfotech.com ·+65 6100 0613 ·www.tertiarycourses.com.sg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400800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Google Workspace for SMEs · TGS-2023018988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6400800"/>
            <a:ext cx="5760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9963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00" b="0">
                <a:solidFill>
                  <a:srgbClr val="5B6372"/>
                </a:solidFill>
                <a:latin typeface="Arial"/>
              </a:rPr>
              <a:t>Primary source: lms-tms.tertiaryinfotech.com · verified 13 Sep 2026 · full link in notes</a:t>
            </a:r>
          </a:p>
        </p:txBody>
      </p:sp>
      <p:pic>
        <p:nvPicPr>
          <p:cNvPr id="13" name="Picture 12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474" y="1723644"/>
            <a:ext cx="7728747" cy="384505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77240" y="5650992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